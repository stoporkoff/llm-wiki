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dlc-factory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8992"/>
            <a:ext cx="12191695" cy="686147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201168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3400" b="1">
                <a:solidFill>
                  <a:srgbClr val="141B21"/>
                </a:solidFill>
                <a:latin typeface="Aptos"/>
              </a:rPr>
              <a:t>SDLC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38912"/>
            <a:ext cx="804672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141B21"/>
                </a:solidFill>
                <a:latin typeface="Aptos"/>
              </a:rPr>
              <a:t>AI-assisted software delivery control 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04288" y="941832"/>
            <a:ext cx="76809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Brainstorm deck · operating model, evidence, gates, and next bets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6144768"/>
            <a:ext cx="1143000" cy="384048"/>
          </a:xfrm>
          <a:prstGeom prst="roundRect">
            <a:avLst/>
          </a:prstGeom>
          <a:solidFill>
            <a:srgbClr val="E1F5F2"/>
          </a:solidFill>
          <a:ln w="10160"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1B21"/>
                </a:solidFill>
                <a:latin typeface="Aptos"/>
              </a:rPr>
              <a:t>DISCOVER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01952" y="6144768"/>
            <a:ext cx="960120" cy="384048"/>
          </a:xfrm>
          <a:prstGeom prst="roundRect">
            <a:avLst/>
          </a:prstGeom>
          <a:solidFill>
            <a:srgbClr val="FFEFD6"/>
          </a:solidFill>
          <a:ln w="10160"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1B21"/>
                </a:solidFill>
                <a:latin typeface="Aptos"/>
              </a:rPr>
              <a:t>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62656" y="6144768"/>
            <a:ext cx="1051560" cy="384048"/>
          </a:xfrm>
          <a:prstGeom prst="roundRect">
            <a:avLst/>
          </a:prstGeom>
          <a:solidFill>
            <a:srgbClr val="F1E8F6"/>
          </a:solidFill>
          <a:ln w="10160"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1B21"/>
                </a:solidFill>
                <a:latin typeface="Aptos"/>
              </a:rPr>
              <a:t>VERIFY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6144768"/>
            <a:ext cx="1097280" cy="384048"/>
          </a:xfrm>
          <a:prstGeom prst="roundRect">
            <a:avLst/>
          </a:prstGeom>
          <a:solidFill>
            <a:srgbClr val="E8F5E2"/>
          </a:solidFill>
          <a:ln w="10160"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1B21"/>
                </a:solidFill>
                <a:latin typeface="Aptos"/>
              </a:rPr>
              <a:t>DELIVER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53606B"/>
                </a:solidFill>
                <a:latin typeface="Aptos"/>
              </a:rPr>
              <a:t>SDLC / Brainstorm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3737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3606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38B6B8"/>
                </a:solidFill>
                <a:latin typeface="Aptos"/>
              </a:rPr>
              <a:t>PROBLEM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66928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41B21"/>
                </a:solidFill>
                <a:latin typeface="Aptos"/>
              </a:rPr>
              <a:t>Why SDLC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10881360" cy="18288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53606B"/>
                </a:solidFill>
                <a:latin typeface="Aptos"/>
              </a:rPr>
              <a:t>SDLC / Brainstorm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3606B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3429000" cy="1325880"/>
          </a:xfrm>
          <a:prstGeom prst="roundRect">
            <a:avLst/>
          </a:prstGeom>
          <a:solidFill>
            <a:srgbClr val="FFEFD6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72768"/>
            <a:ext cx="82296" cy="1325880"/>
          </a:xfrm>
          <a:prstGeom prst="rect">
            <a:avLst/>
          </a:prstGeom>
          <a:solidFill>
            <a:srgbClr val="FF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30175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Speed without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31136"/>
            <a:ext cx="3017520" cy="5394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Agents can generate quickly, but a fast answer is not automatically a usable delivery.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72768"/>
            <a:ext cx="3429000" cy="1325880"/>
          </a:xfrm>
          <a:prstGeom prst="roundRect">
            <a:avLst/>
          </a:prstGeom>
          <a:solidFill>
            <a:srgbClr val="F1E8F6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72768"/>
            <a:ext cx="82296" cy="1325880"/>
          </a:xfrm>
          <a:prstGeom prst="rect">
            <a:avLst/>
          </a:prstGeom>
          <a:solidFill>
            <a:srgbClr val="A67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55648"/>
            <a:ext cx="30175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Specialists without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31136"/>
            <a:ext cx="3017520" cy="5394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Parallel roles increase throughput only when ownership, tools, and handoffs are explicit.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72768"/>
            <a:ext cx="3429000" cy="1325880"/>
          </a:xfrm>
          <a:prstGeom prst="roundRect">
            <a:avLst/>
          </a:prstGeom>
          <a:solidFill>
            <a:srgbClr val="E1F5F2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572768"/>
            <a:ext cx="82296" cy="1325880"/>
          </a:xfrm>
          <a:prstGeom prst="rect">
            <a:avLst/>
          </a:prstGeom>
          <a:solidFill>
            <a:srgbClr val="38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55648"/>
            <a:ext cx="30175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Automation without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31136"/>
            <a:ext cx="3017520" cy="5394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A workflow needs deterministic gates, runtime proof, provenance, and a fail-closed release decision.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01568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000" b="1">
                <a:solidFill>
                  <a:srgbClr val="141B21"/>
                </a:solidFill>
                <a:latin typeface="Aptos"/>
              </a:rPr>
              <a:t>The product 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13632"/>
            <a:ext cx="1042416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400" b="1">
                <a:solidFill>
                  <a:srgbClr val="141B21"/>
                </a:solidFill>
                <a:latin typeface="Aptos"/>
              </a:rPr>
              <a:t>Turn an ambiguous goal into an observable, reviewable, locally runnable artifact — with every decision and gate recorded.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257800"/>
            <a:ext cx="1417320" cy="384048"/>
          </a:xfrm>
          <a:prstGeom prst="roundRect">
            <a:avLst/>
          </a:prstGeom>
          <a:solidFill>
            <a:srgbClr val="E5F0F6"/>
          </a:solidFill>
          <a:ln w="10160"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1B21"/>
                </a:solidFill>
                <a:latin typeface="Aptos"/>
              </a:rPr>
              <a:t>LOCAL-FIRST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5257800"/>
            <a:ext cx="1481328" cy="384048"/>
          </a:xfrm>
          <a:prstGeom prst="roundRect">
            <a:avLst/>
          </a:prstGeom>
          <a:solidFill>
            <a:srgbClr val="FFEFD6"/>
          </a:solidFill>
          <a:ln w="10160"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1B21"/>
                </a:solidFill>
                <a:latin typeface="Aptos"/>
              </a:rPr>
              <a:t>FAIL-CLOSED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5257800"/>
            <a:ext cx="1737360" cy="384048"/>
          </a:xfrm>
          <a:prstGeom prst="roundRect">
            <a:avLst/>
          </a:prstGeom>
          <a:solidFill>
            <a:srgbClr val="E1F5F2"/>
          </a:solidFill>
          <a:ln w="10160"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1B21"/>
                </a:solidFill>
                <a:latin typeface="Aptos"/>
              </a:rPr>
              <a:t>EVIDENCE-LINKED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79592" y="5257800"/>
            <a:ext cx="1234440" cy="384048"/>
          </a:xfrm>
          <a:prstGeom prst="roundRect">
            <a:avLst/>
          </a:prstGeom>
          <a:solidFill>
            <a:srgbClr val="F1E8F6"/>
          </a:solidFill>
          <a:ln w="10160"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1B21"/>
                </a:solidFill>
                <a:latin typeface="Aptos"/>
              </a:rPr>
              <a:t>REUSABLE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78624" y="5257800"/>
            <a:ext cx="1417320" cy="384048"/>
          </a:xfrm>
          <a:prstGeom prst="roundRect">
            <a:avLst/>
          </a:prstGeom>
          <a:solidFill>
            <a:srgbClr val="E8F5E2"/>
          </a:solidFill>
          <a:ln w="10160"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1B21"/>
                </a:solidFill>
                <a:latin typeface="Aptos"/>
              </a:rPr>
              <a:t>OBSERVABLE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38B6B8"/>
                </a:solidFill>
                <a:latin typeface="Aptos"/>
              </a:rPr>
              <a:t>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66928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41B21"/>
                </a:solidFill>
                <a:latin typeface="Aptos"/>
              </a:rPr>
              <a:t>One goal, a governed delivery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10881360" cy="18288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53606B"/>
                </a:solidFill>
                <a:latin typeface="Aptos"/>
              </a:rPr>
              <a:t>SDLC / Brainstorm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3606B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1828800"/>
            <a:ext cx="1600200" cy="1828800"/>
          </a:xfrm>
          <a:prstGeom prst="roundRect">
            <a:avLst/>
          </a:prstGeom>
          <a:solidFill>
            <a:srgbClr val="E1F5F2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072" y="1828800"/>
            <a:ext cx="82296" cy="1828800"/>
          </a:xfrm>
          <a:prstGeom prst="rect">
            <a:avLst/>
          </a:prstGeom>
          <a:solidFill>
            <a:srgbClr val="38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11680"/>
            <a:ext cx="1188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1B21"/>
                </a:solidFill>
                <a:latin typeface="Aptos"/>
              </a:rPr>
              <a:t>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87168"/>
            <a:ext cx="1188720" cy="10424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53606B"/>
                </a:solidFill>
                <a:latin typeface="Aptos"/>
              </a:rPr>
              <a:t>Bound the goal</a:t>
            </a:r>
            <a:br/>
            <a:r>
              <a:t>and acceptance</a:t>
            </a:r>
          </a:p>
        </p:txBody>
      </p:sp>
      <p:sp>
        <p:nvSpPr>
          <p:cNvPr id="11" name="Chevron 10"/>
          <p:cNvSpPr/>
          <p:nvPr/>
        </p:nvSpPr>
        <p:spPr>
          <a:xfrm>
            <a:off x="2249424" y="2505456"/>
            <a:ext cx="310896" cy="457200"/>
          </a:xfrm>
          <a:prstGeom prst="chevron">
            <a:avLst/>
          </a:prstGeom>
          <a:solidFill>
            <a:srgbClr val="38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78024" y="1828800"/>
            <a:ext cx="1600200" cy="1828800"/>
          </a:xfrm>
          <a:prstGeom prst="roundRect">
            <a:avLst/>
          </a:prstGeom>
          <a:solidFill>
            <a:srgbClr val="E5F0F6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78024" y="1828800"/>
            <a:ext cx="82296" cy="1828800"/>
          </a:xfrm>
          <a:prstGeom prst="rect">
            <a:avLst/>
          </a:prstGeom>
          <a:solidFill>
            <a:srgbClr val="6D9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06624" y="2011680"/>
            <a:ext cx="1188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1B21"/>
                </a:solidFill>
                <a:latin typeface="Aptos"/>
              </a:rPr>
              <a:t>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624" y="2487168"/>
            <a:ext cx="1188720" cy="10424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53606B"/>
                </a:solidFill>
                <a:latin typeface="Aptos"/>
              </a:rPr>
              <a:t>Architecture +</a:t>
            </a:r>
            <a:br/>
            <a:r>
              <a:t>ownership plan</a:t>
            </a:r>
          </a:p>
        </p:txBody>
      </p:sp>
      <p:sp>
        <p:nvSpPr>
          <p:cNvPr id="16" name="Chevron 15"/>
          <p:cNvSpPr/>
          <p:nvPr/>
        </p:nvSpPr>
        <p:spPr>
          <a:xfrm>
            <a:off x="4151376" y="2505456"/>
            <a:ext cx="310896" cy="457200"/>
          </a:xfrm>
          <a:prstGeom prst="chevron">
            <a:avLst/>
          </a:prstGeom>
          <a:solidFill>
            <a:srgbClr val="6D9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79976" y="1828800"/>
            <a:ext cx="1600200" cy="1828800"/>
          </a:xfrm>
          <a:prstGeom prst="roundRect">
            <a:avLst/>
          </a:prstGeom>
          <a:solidFill>
            <a:srgbClr val="FFEFD6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9976" y="1828800"/>
            <a:ext cx="82296" cy="1828800"/>
          </a:xfrm>
          <a:prstGeom prst="rect">
            <a:avLst/>
          </a:prstGeom>
          <a:solidFill>
            <a:srgbClr val="FF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8576" y="2011680"/>
            <a:ext cx="1188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1B21"/>
                </a:solidFill>
                <a:latin typeface="Aptos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2487168"/>
            <a:ext cx="1188720" cy="10424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53606B"/>
                </a:solidFill>
                <a:latin typeface="Aptos"/>
              </a:rPr>
              <a:t>Specialists write</a:t>
            </a:r>
            <a:br/>
            <a:r>
              <a:t>isolated areas</a:t>
            </a:r>
          </a:p>
        </p:txBody>
      </p:sp>
      <p:sp>
        <p:nvSpPr>
          <p:cNvPr id="21" name="Chevron 20"/>
          <p:cNvSpPr/>
          <p:nvPr/>
        </p:nvSpPr>
        <p:spPr>
          <a:xfrm>
            <a:off x="6053328" y="2505456"/>
            <a:ext cx="310896" cy="457200"/>
          </a:xfrm>
          <a:prstGeom prst="chevron">
            <a:avLst/>
          </a:prstGeom>
          <a:solidFill>
            <a:srgbClr val="FF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81928" y="1828800"/>
            <a:ext cx="1600200" cy="1828800"/>
          </a:xfrm>
          <a:prstGeom prst="roundRect">
            <a:avLst/>
          </a:prstGeom>
          <a:solidFill>
            <a:srgbClr val="F1E8F6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81928" y="1828800"/>
            <a:ext cx="82296" cy="1828800"/>
          </a:xfrm>
          <a:prstGeom prst="rect">
            <a:avLst/>
          </a:prstGeom>
          <a:solidFill>
            <a:srgbClr val="A67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2011680"/>
            <a:ext cx="1188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1B21"/>
                </a:solidFill>
                <a:latin typeface="Aptos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487168"/>
            <a:ext cx="1188720" cy="10424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53606B"/>
                </a:solidFill>
                <a:latin typeface="Aptos"/>
              </a:rPr>
              <a:t>Runtime tests +</a:t>
            </a:r>
            <a:br/>
            <a:r>
              <a:t>security review</a:t>
            </a:r>
          </a:p>
        </p:txBody>
      </p:sp>
      <p:sp>
        <p:nvSpPr>
          <p:cNvPr id="26" name="Chevron 25"/>
          <p:cNvSpPr/>
          <p:nvPr/>
        </p:nvSpPr>
        <p:spPr>
          <a:xfrm>
            <a:off x="7955279" y="2505456"/>
            <a:ext cx="310896" cy="457200"/>
          </a:xfrm>
          <a:prstGeom prst="chevron">
            <a:avLst/>
          </a:prstGeom>
          <a:solidFill>
            <a:srgbClr val="A67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83879" y="1828800"/>
            <a:ext cx="1600200" cy="1828800"/>
          </a:xfrm>
          <a:prstGeom prst="roundRect">
            <a:avLst/>
          </a:prstGeom>
          <a:solidFill>
            <a:srgbClr val="FCE4DD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1828800"/>
            <a:ext cx="82296" cy="1828800"/>
          </a:xfrm>
          <a:prstGeom prst="rect">
            <a:avLst/>
          </a:prstGeom>
          <a:solidFill>
            <a:srgbClr val="F4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2011680"/>
            <a:ext cx="1188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1B21"/>
                </a:solidFill>
                <a:latin typeface="Aptos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487168"/>
            <a:ext cx="1188720" cy="10424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53606B"/>
                </a:solidFill>
                <a:latin typeface="Aptos"/>
              </a:rPr>
              <a:t>Cross-role trust</a:t>
            </a:r>
            <a:br/>
            <a:r>
              <a:t>verdict</a:t>
            </a:r>
          </a:p>
        </p:txBody>
      </p:sp>
      <p:sp>
        <p:nvSpPr>
          <p:cNvPr id="31" name="Chevron 30"/>
          <p:cNvSpPr/>
          <p:nvPr/>
        </p:nvSpPr>
        <p:spPr>
          <a:xfrm>
            <a:off x="9857232" y="2505456"/>
            <a:ext cx="310896" cy="457200"/>
          </a:xfrm>
          <a:prstGeom prst="chevron">
            <a:avLst/>
          </a:prstGeom>
          <a:solidFill>
            <a:srgbClr val="F4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085832" y="1828800"/>
            <a:ext cx="1600200" cy="1828800"/>
          </a:xfrm>
          <a:prstGeom prst="roundRect">
            <a:avLst/>
          </a:prstGeom>
          <a:solidFill>
            <a:srgbClr val="E8F5E2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5832" y="1828800"/>
            <a:ext cx="82296" cy="1828800"/>
          </a:xfrm>
          <a:prstGeom prst="rect">
            <a:avLst/>
          </a:prstGeom>
          <a:solidFill>
            <a:srgbClr val="86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14432" y="2011680"/>
            <a:ext cx="1188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1B21"/>
                </a:solidFill>
                <a:latin typeface="Aptos"/>
              </a:rPr>
              <a:t>Package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14432" y="2487168"/>
            <a:ext cx="1188720" cy="10424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53606B"/>
                </a:solidFill>
                <a:latin typeface="Aptos"/>
              </a:rPr>
              <a:t>Score + reusable</a:t>
            </a:r>
            <a:br/>
            <a:r>
              <a:t>tool contract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251960"/>
            <a:ext cx="1005840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41B21"/>
                </a:solidFill>
                <a:latin typeface="Aptos"/>
              </a:rPr>
              <a:t>Every stage emits events, agent outputs, token/tool telemetry, and a durable session artifact.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65960" y="5074920"/>
            <a:ext cx="1645920" cy="384048"/>
          </a:xfrm>
          <a:prstGeom prst="roundRect">
            <a:avLst/>
          </a:prstGeom>
          <a:solidFill>
            <a:srgbClr val="E5F0F6"/>
          </a:solidFill>
          <a:ln w="10160"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1B21"/>
                </a:solidFill>
                <a:latin typeface="Aptos"/>
              </a:rPr>
              <a:t>SQLite session state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94760" y="5074920"/>
            <a:ext cx="1325880" cy="384048"/>
          </a:xfrm>
          <a:prstGeom prst="roundRect">
            <a:avLst/>
          </a:prstGeom>
          <a:solidFill>
            <a:srgbClr val="FFEFD6"/>
          </a:solidFill>
          <a:ln w="10160"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1B21"/>
                </a:solidFill>
                <a:latin typeface="Aptos"/>
              </a:rPr>
              <a:t>session.yaml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0" y="5074920"/>
            <a:ext cx="1508760" cy="384048"/>
          </a:xfrm>
          <a:prstGeom prst="roundRect">
            <a:avLst/>
          </a:prstGeom>
          <a:solidFill>
            <a:srgbClr val="F1E8F6"/>
          </a:solidFill>
          <a:ln w="10160"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1B21"/>
                </a:solidFill>
                <a:latin typeface="Aptos"/>
              </a:rPr>
              <a:t>OpenTelemetry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95160" y="5074920"/>
            <a:ext cx="1417320" cy="384048"/>
          </a:xfrm>
          <a:prstGeom prst="roundRect">
            <a:avLst/>
          </a:prstGeom>
          <a:solidFill>
            <a:srgbClr val="E8F5E2"/>
          </a:solidFill>
          <a:ln w="10160"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1B21"/>
                </a:solidFill>
                <a:latin typeface="Aptos"/>
              </a:rPr>
              <a:t>local preview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38B6B8"/>
                </a:solidFill>
                <a:latin typeface="Aptos"/>
              </a:rPr>
              <a:t>ENGINEERING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66928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41B21"/>
                </a:solidFill>
                <a:latin typeface="Aptos"/>
              </a:rPr>
              <a:t>Practices encoded as product behavior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10881360" cy="18288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53606B"/>
                </a:solidFill>
                <a:latin typeface="Aptos"/>
              </a:rPr>
              <a:t>SDLC / Brainstorm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3606B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27048"/>
            <a:ext cx="3493008" cy="1737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27048"/>
            <a:ext cx="82296" cy="1737360"/>
          </a:xfrm>
          <a:prstGeom prst="rect">
            <a:avLst/>
          </a:prstGeom>
          <a:solidFill>
            <a:srgbClr val="38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09928"/>
            <a:ext cx="3081527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Explicit FSM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85415"/>
            <a:ext cx="3081527" cy="9509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No hidden phase changes; terminal states are durable and inspectable.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527048"/>
            <a:ext cx="3493008" cy="1737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53128" y="1527048"/>
            <a:ext cx="82296" cy="1737360"/>
          </a:xfrm>
          <a:prstGeom prst="rect">
            <a:avLst/>
          </a:prstGeom>
          <a:solidFill>
            <a:srgbClr val="6D9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709928"/>
            <a:ext cx="3081527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Bounded 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185415"/>
            <a:ext cx="3081527" cy="9509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Each role has an allowlisted toolset and workspace write boundary.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1527048"/>
            <a:ext cx="3493008" cy="1737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47888" y="1527048"/>
            <a:ext cx="82296" cy="1737360"/>
          </a:xfrm>
          <a:prstGeom prst="rect">
            <a:avLst/>
          </a:prstGeom>
          <a:solidFill>
            <a:srgbClr val="A67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1709928"/>
            <a:ext cx="3081527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Parallel where safe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185415"/>
            <a:ext cx="3081527" cy="9509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Build and verification concurrency without overlapping ownership.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75887"/>
            <a:ext cx="3493008" cy="1737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675887"/>
            <a:ext cx="82296" cy="1737360"/>
          </a:xfrm>
          <a:prstGeom prst="rect">
            <a:avLst/>
          </a:prstGeom>
          <a:solidFill>
            <a:srgbClr val="FF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858768"/>
            <a:ext cx="3081527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Runtime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334255"/>
            <a:ext cx="3081527" cy="9509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Test commands and outputs are first-class gate inputs, not prose decoration.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53128" y="3675887"/>
            <a:ext cx="3493008" cy="1737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53128" y="3675887"/>
            <a:ext cx="82296" cy="1737360"/>
          </a:xfrm>
          <a:prstGeom prst="rect">
            <a:avLst/>
          </a:prstGeom>
          <a:solidFill>
            <a:srgbClr val="F4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8" y="3858768"/>
            <a:ext cx="3081527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Defensive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4334255"/>
            <a:ext cx="3081527" cy="9509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Security and final review are read-only and cannot patch around findings.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3675887"/>
            <a:ext cx="3493008" cy="1737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47888" y="3675887"/>
            <a:ext cx="82296" cy="1737360"/>
          </a:xfrm>
          <a:prstGeom prst="rect">
            <a:avLst/>
          </a:prstGeom>
          <a:solidFill>
            <a:srgbClr val="86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76488" y="3858768"/>
            <a:ext cx="3081527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Reusable 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4334255"/>
            <a:ext cx="3081527" cy="9509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Approved work is scored, versioned, and exposed through a strict contract.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38B6B8"/>
                </a:solidFill>
                <a:latin typeface="Aptos"/>
              </a:rPr>
              <a:t>TRUST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66928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41B21"/>
                </a:solidFill>
                <a:latin typeface="Aptos"/>
              </a:rPr>
              <a:t>Quality gates must fail closed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10881360" cy="18288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53606B"/>
                </a:solidFill>
                <a:latin typeface="Aptos"/>
              </a:rPr>
              <a:t>SDLC / Brainstorm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3606B"/>
                </a:solidFill>
                <a:latin typeface="Aptos"/>
              </a:rPr>
              <a:t>05</a:t>
            </a:r>
          </a:p>
        </p:txBody>
      </p:sp>
      <p:pic>
        <p:nvPicPr>
          <p:cNvPr id="7" name="Picture 6" descr="sdlc-quality-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7008"/>
            <a:ext cx="11567160" cy="65099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06640" y="5458968"/>
            <a:ext cx="4069080" cy="66751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46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5605272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46B4D"/>
                </a:solidFill>
                <a:latin typeface="Aptos"/>
              </a:rPr>
              <a:t>BLOCKED means stop here — never “passed with caveats.”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38B6B8"/>
                </a:solidFill>
                <a:latin typeface="Aptos"/>
              </a:rPr>
              <a:t>INCIDENT REVIEW · 19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66928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41B21"/>
                </a:solidFill>
                <a:latin typeface="Aptos"/>
              </a:rPr>
              <a:t>What happened in the latest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10881360" cy="18288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53606B"/>
                </a:solidFill>
                <a:latin typeface="Aptos"/>
              </a:rPr>
              <a:t>SDLC / Brainstorm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3606B"/>
                </a:solidFill>
                <a:latin typeface="Aptos"/>
              </a:rPr>
              <a:t>06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1874519"/>
            <a:ext cx="502920" cy="502920"/>
          </a:xfrm>
          <a:prstGeom prst="ellipse">
            <a:avLst/>
          </a:prstGeom>
          <a:solidFill>
            <a:srgbClr val="38B6B8"/>
          </a:solidFill>
          <a:ln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6152" y="2093976"/>
            <a:ext cx="1508760" cy="73152"/>
          </a:xfrm>
          <a:prstGeom prst="rect">
            <a:avLst/>
          </a:prstGeom>
          <a:solidFill>
            <a:srgbClr val="C0C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6400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38B6B8"/>
                </a:solidFill>
                <a:latin typeface="Aptos"/>
              </a:rPr>
              <a:t>23:08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578608"/>
            <a:ext cx="11430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141B21"/>
                </a:solidFill>
                <a:latin typeface="Aptos"/>
              </a:rPr>
              <a:t>Session started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" y="3063240"/>
            <a:ext cx="1554480" cy="7498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53606B"/>
                </a:solidFill>
                <a:latin typeface="Aptos"/>
              </a:rPr>
              <a:t>React login UI requested</a:t>
            </a:r>
          </a:p>
        </p:txBody>
      </p:sp>
      <p:sp>
        <p:nvSpPr>
          <p:cNvPr id="12" name="Oval 11"/>
          <p:cNvSpPr/>
          <p:nvPr/>
        </p:nvSpPr>
        <p:spPr>
          <a:xfrm>
            <a:off x="2953512" y="1874519"/>
            <a:ext cx="502920" cy="502920"/>
          </a:xfrm>
          <a:prstGeom prst="ellipse">
            <a:avLst/>
          </a:prstGeom>
          <a:solidFill>
            <a:srgbClr val="6D93DC"/>
          </a:solidFill>
          <a:ln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6432" y="2093976"/>
            <a:ext cx="1508760" cy="73152"/>
          </a:xfrm>
          <a:prstGeom prst="rect">
            <a:avLst/>
          </a:prstGeom>
          <a:solidFill>
            <a:srgbClr val="C0C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7792" y="1508760"/>
            <a:ext cx="6400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6D93DC"/>
                </a:solidFill>
                <a:latin typeface="Aptos"/>
              </a:rPr>
              <a:t>23:10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578608"/>
            <a:ext cx="11430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141B21"/>
                </a:solidFill>
                <a:latin typeface="Aptos"/>
              </a:rPr>
              <a:t>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78024" y="3063240"/>
            <a:ext cx="1554480" cy="7498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53606B"/>
                </a:solidFill>
                <a:latin typeface="Aptos"/>
              </a:rPr>
              <a:t>Static requirements satisfied</a:t>
            </a:r>
          </a:p>
        </p:txBody>
      </p:sp>
      <p:sp>
        <p:nvSpPr>
          <p:cNvPr id="17" name="Oval 16"/>
          <p:cNvSpPr/>
          <p:nvPr/>
        </p:nvSpPr>
        <p:spPr>
          <a:xfrm>
            <a:off x="5193792" y="1874519"/>
            <a:ext cx="502920" cy="502920"/>
          </a:xfrm>
          <a:prstGeom prst="ellipse">
            <a:avLst/>
          </a:prstGeom>
          <a:solidFill>
            <a:srgbClr val="FFA643"/>
          </a:solidFill>
          <a:ln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96712" y="2093976"/>
            <a:ext cx="1508760" cy="73152"/>
          </a:xfrm>
          <a:prstGeom prst="rect">
            <a:avLst/>
          </a:prstGeom>
          <a:solidFill>
            <a:srgbClr val="C0C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48072" y="1508760"/>
            <a:ext cx="6400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A643"/>
                </a:solidFill>
                <a:latin typeface="Aptos"/>
              </a:rPr>
              <a:t>23:11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2578608"/>
            <a:ext cx="11430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141B21"/>
                </a:solidFill>
                <a:latin typeface="Aptos"/>
              </a:rPr>
              <a:t>QA blocked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304" y="3063240"/>
            <a:ext cx="1554480" cy="7498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53606B"/>
                </a:solidFill>
                <a:latin typeface="Aptos"/>
              </a:rPr>
              <a:t>vitest: not found · exit 127</a:t>
            </a:r>
          </a:p>
        </p:txBody>
      </p:sp>
      <p:sp>
        <p:nvSpPr>
          <p:cNvPr id="22" name="Oval 21"/>
          <p:cNvSpPr/>
          <p:nvPr/>
        </p:nvSpPr>
        <p:spPr>
          <a:xfrm>
            <a:off x="7434072" y="1874519"/>
            <a:ext cx="502920" cy="502920"/>
          </a:xfrm>
          <a:prstGeom prst="ellipse">
            <a:avLst/>
          </a:prstGeom>
          <a:solidFill>
            <a:srgbClr val="F46B4D"/>
          </a:solidFill>
          <a:ln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36992" y="2093976"/>
            <a:ext cx="1508760" cy="73152"/>
          </a:xfrm>
          <a:prstGeom prst="rect">
            <a:avLst/>
          </a:prstGeom>
          <a:solidFill>
            <a:srgbClr val="C0C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8352" y="1508760"/>
            <a:ext cx="6400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46B4D"/>
                </a:solidFill>
                <a:latin typeface="Aptos"/>
              </a:rPr>
              <a:t>23:11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2578608"/>
            <a:ext cx="11430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141B21"/>
                </a:solidFill>
                <a:latin typeface="Aptos"/>
              </a:rPr>
              <a:t>False 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8584" y="3063240"/>
            <a:ext cx="1554480" cy="7498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53606B"/>
                </a:solidFill>
                <a:latin typeface="Aptos"/>
              </a:rPr>
              <a:t>Verification marked passed</a:t>
            </a:r>
          </a:p>
        </p:txBody>
      </p:sp>
      <p:sp>
        <p:nvSpPr>
          <p:cNvPr id="27" name="Oval 26"/>
          <p:cNvSpPr/>
          <p:nvPr/>
        </p:nvSpPr>
        <p:spPr>
          <a:xfrm>
            <a:off x="9674352" y="1874519"/>
            <a:ext cx="502920" cy="502920"/>
          </a:xfrm>
          <a:prstGeom prst="ellipse">
            <a:avLst/>
          </a:prstGeom>
          <a:solidFill>
            <a:srgbClr val="A678C1"/>
          </a:solidFill>
          <a:ln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28632" y="1508760"/>
            <a:ext cx="6400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A678C1"/>
                </a:solidFill>
                <a:latin typeface="Aptos"/>
              </a:rPr>
              <a:t>23:12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2578608"/>
            <a:ext cx="11430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141B21"/>
                </a:solidFill>
                <a:latin typeface="Aptos"/>
              </a:rPr>
              <a:t>Final rejection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864" y="3063240"/>
            <a:ext cx="1554480" cy="7498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53606B"/>
                </a:solidFill>
                <a:latin typeface="Aptos"/>
              </a:rPr>
              <a:t>Runtime evidence missing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4343400"/>
            <a:ext cx="3429000" cy="1143000"/>
          </a:xfrm>
          <a:prstGeom prst="roundRect">
            <a:avLst/>
          </a:prstGeom>
          <a:solidFill>
            <a:srgbClr val="FFEFD6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9808" y="4343400"/>
            <a:ext cx="82296" cy="1143000"/>
          </a:xfrm>
          <a:prstGeom prst="rect">
            <a:avLst/>
          </a:prstGeom>
          <a:solidFill>
            <a:srgbClr val="FF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7" y="4526280"/>
            <a:ext cx="30175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Primary cause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7" y="5001768"/>
            <a:ext cx="3017520" cy="3566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53606B"/>
                </a:solidFill>
                <a:latin typeface="Aptos"/>
              </a:rPr>
              <a:t>Dependency setup happened after QA, during Preview. QA therefore could not run the generated frontend suite.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4343400"/>
            <a:ext cx="3429000" cy="1143000"/>
          </a:xfrm>
          <a:prstGeom prst="roundRect">
            <a:avLst/>
          </a:prstGeom>
          <a:solidFill>
            <a:srgbClr val="FCE4DD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4343400"/>
            <a:ext cx="82296" cy="1143000"/>
          </a:xfrm>
          <a:prstGeom prst="rect">
            <a:avLst/>
          </a:prstGeom>
          <a:solidFill>
            <a:srgbClr val="F4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4526280"/>
            <a:ext cx="30175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Control failure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5001768"/>
            <a:ext cx="3017520" cy="3566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53606B"/>
                </a:solidFill>
                <a:latin typeface="Aptos"/>
              </a:rPr>
              <a:t>The Verification gate accepted narrative output and did not interpret QA BLOCKED as terminal.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28431" y="4343400"/>
            <a:ext cx="3429000" cy="1143000"/>
          </a:xfrm>
          <a:prstGeom prst="roundRect">
            <a:avLst/>
          </a:prstGeom>
          <a:solidFill>
            <a:srgbClr val="E8F5E2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28431" y="4343400"/>
            <a:ext cx="82296" cy="1143000"/>
          </a:xfrm>
          <a:prstGeom prst="rect">
            <a:avLst/>
          </a:prstGeom>
          <a:solidFill>
            <a:srgbClr val="86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57031" y="4526280"/>
            <a:ext cx="30175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Now fixed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7031" y="5001768"/>
            <a:ext cx="3017520" cy="3566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53606B"/>
                </a:solidFill>
                <a:latin typeface="Aptos"/>
              </a:rPr>
              <a:t>QA prepares a lockfile-based environment; machine-readable verdicts stop the workflow before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38B6B8"/>
                </a:solidFill>
                <a:latin typeface="Aptos"/>
              </a:rPr>
              <a:t>CONTROL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66928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41B21"/>
                </a:solidFill>
                <a:latin typeface="Aptos"/>
              </a:rPr>
              <a:t>The fix: deterministic tests + explicit verdicts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10881360" cy="18288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53606B"/>
                </a:solidFill>
                <a:latin typeface="Aptos"/>
              </a:rPr>
              <a:t>SDLC / Brainstorm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3606B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3383280" cy="1280160"/>
          </a:xfrm>
          <a:prstGeom prst="roundRect">
            <a:avLst/>
          </a:prstGeom>
          <a:solidFill>
            <a:srgbClr val="E5F0F6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72768"/>
            <a:ext cx="82296" cy="1280160"/>
          </a:xfrm>
          <a:prstGeom prst="rect">
            <a:avLst/>
          </a:prstGeom>
          <a:solidFill>
            <a:srgbClr val="6D9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29718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1 · Dependency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31136"/>
            <a:ext cx="2971800" cy="49377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Reject `latest`. Generate and preserve package-lock.json when absent.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572768"/>
            <a:ext cx="3383280" cy="1280160"/>
          </a:xfrm>
          <a:prstGeom prst="roundRect">
            <a:avLst/>
          </a:prstGeom>
          <a:solidFill>
            <a:srgbClr val="E1F5F2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572768"/>
            <a:ext cx="82296" cy="1280160"/>
          </a:xfrm>
          <a:prstGeom prst="rect">
            <a:avLst/>
          </a:prstGeom>
          <a:solidFill>
            <a:srgbClr val="38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755648"/>
            <a:ext cx="29718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2 · Reproducible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231136"/>
            <a:ext cx="2971800" cy="49377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Install with npm ci --ignore-scripts, run the suite, then remove node_modules.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572768"/>
            <a:ext cx="3383280" cy="1280160"/>
          </a:xfrm>
          <a:prstGeom prst="roundRect">
            <a:avLst/>
          </a:prstGeom>
          <a:solidFill>
            <a:srgbClr val="F1E8F6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1572768"/>
            <a:ext cx="82296" cy="1280160"/>
          </a:xfrm>
          <a:prstGeom prst="rect">
            <a:avLst/>
          </a:prstGeom>
          <a:solidFill>
            <a:srgbClr val="A67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1755648"/>
            <a:ext cx="29718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3 · Gate 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231136"/>
            <a:ext cx="2971800" cy="49377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Require QA PASSED and SECURITY PASSED as the first non-empty 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794760"/>
            <a:ext cx="201168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200" b="1">
                <a:solidFill>
                  <a:srgbClr val="F46B4D"/>
                </a:solidFill>
                <a:latin typeface="Aptos"/>
              </a:rPr>
              <a:t>QA BLOCKED</a:t>
            </a:r>
          </a:p>
        </p:txBody>
      </p:sp>
      <p:sp>
        <p:nvSpPr>
          <p:cNvPr id="20" name="Chevron 19"/>
          <p:cNvSpPr/>
          <p:nvPr/>
        </p:nvSpPr>
        <p:spPr>
          <a:xfrm>
            <a:off x="3063240" y="3803904"/>
            <a:ext cx="310896" cy="457200"/>
          </a:xfrm>
          <a:prstGeom prst="chevron">
            <a:avLst/>
          </a:prstGeom>
          <a:solidFill>
            <a:srgbClr val="F4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3794760"/>
            <a:ext cx="210312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41B21"/>
                </a:solidFill>
                <a:latin typeface="Aptos"/>
              </a:rPr>
              <a:t>Verification raises</a:t>
            </a:r>
          </a:p>
        </p:txBody>
      </p:sp>
      <p:sp>
        <p:nvSpPr>
          <p:cNvPr id="22" name="Chevron 21"/>
          <p:cNvSpPr/>
          <p:nvPr/>
        </p:nvSpPr>
        <p:spPr>
          <a:xfrm>
            <a:off x="5806440" y="3803904"/>
            <a:ext cx="310896" cy="457200"/>
          </a:xfrm>
          <a:prstGeom prst="chevron">
            <a:avLst/>
          </a:prstGeom>
          <a:solidFill>
            <a:srgbClr val="F4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794760"/>
            <a:ext cx="21945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200" b="1">
                <a:solidFill>
                  <a:srgbClr val="F46B4D"/>
                </a:solidFill>
                <a:latin typeface="Aptos"/>
              </a:rPr>
              <a:t>Session → FAILED</a:t>
            </a:r>
          </a:p>
        </p:txBody>
      </p:sp>
      <p:sp>
        <p:nvSpPr>
          <p:cNvPr id="24" name="Chevron 23"/>
          <p:cNvSpPr/>
          <p:nvPr/>
        </p:nvSpPr>
        <p:spPr>
          <a:xfrm>
            <a:off x="8613648" y="3803904"/>
            <a:ext cx="310896" cy="457200"/>
          </a:xfrm>
          <a:prstGeom prst="chevron">
            <a:avLst/>
          </a:prstGeom>
          <a:solidFill>
            <a:srgbClr val="F4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3794760"/>
            <a:ext cx="201168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141B21"/>
                </a:solidFill>
                <a:latin typeface="Aptos"/>
              </a:rPr>
              <a:t>Reviewer not invoked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41B21"/>
                </a:solidFill>
                <a:latin typeface="Aptos"/>
              </a:rPr>
              <a:t>Regression test: blocked QA cannot emit stage-completed and cannot start final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38B6B8"/>
                </a:solidFill>
                <a:latin typeface="Aptos"/>
              </a:rPr>
              <a:t>CURRENT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66928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41B21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10881360" cy="18288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53606B"/>
                </a:solidFill>
                <a:latin typeface="Aptos"/>
              </a:rPr>
              <a:t>SDLC / Brainstorm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3606B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36192"/>
            <a:ext cx="2423160" cy="1828800"/>
          </a:xfrm>
          <a:prstGeom prst="roundRect">
            <a:avLst/>
          </a:prstGeom>
          <a:solidFill>
            <a:srgbClr val="E1F5F2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36192"/>
            <a:ext cx="82296" cy="1828800"/>
          </a:xfrm>
          <a:prstGeom prst="rect">
            <a:avLst/>
          </a:prstGeom>
          <a:solidFill>
            <a:srgbClr val="38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19072"/>
            <a:ext cx="2011679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Factory UI +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2011679" cy="10424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FastAPI control plane</a:t>
            </a:r>
            <a:br/>
            <a:r>
              <a:t>Session and event APIs</a:t>
            </a:r>
            <a:br/>
            <a:r>
              <a:t>Local preview routing</a:t>
            </a:r>
          </a:p>
        </p:txBody>
      </p:sp>
      <p:sp>
        <p:nvSpPr>
          <p:cNvPr id="11" name="Chevron 10"/>
          <p:cNvSpPr/>
          <p:nvPr/>
        </p:nvSpPr>
        <p:spPr>
          <a:xfrm>
            <a:off x="3218688" y="2240280"/>
            <a:ext cx="310896" cy="457200"/>
          </a:xfrm>
          <a:prstGeom prst="chevron">
            <a:avLst/>
          </a:prstGeom>
          <a:solidFill>
            <a:srgbClr val="38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9312" y="1536192"/>
            <a:ext cx="2423160" cy="1828800"/>
          </a:xfrm>
          <a:prstGeom prst="roundRect">
            <a:avLst/>
          </a:prstGeom>
          <a:solidFill>
            <a:srgbClr val="E5F0F6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39312" y="1536192"/>
            <a:ext cx="82296" cy="1828800"/>
          </a:xfrm>
          <a:prstGeom prst="rect">
            <a:avLst/>
          </a:prstGeom>
          <a:solidFill>
            <a:srgbClr val="6D9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7912" y="1719072"/>
            <a:ext cx="2011679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Orchestrator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7912" y="2194560"/>
            <a:ext cx="2011679" cy="10424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FSM + stage pipeline</a:t>
            </a:r>
            <a:br/>
            <a:r>
              <a:t>Agent gateway</a:t>
            </a:r>
            <a:br/>
            <a:r>
              <a:t>Deterministic gates</a:t>
            </a:r>
          </a:p>
        </p:txBody>
      </p:sp>
      <p:sp>
        <p:nvSpPr>
          <p:cNvPr id="16" name="Chevron 15"/>
          <p:cNvSpPr/>
          <p:nvPr/>
        </p:nvSpPr>
        <p:spPr>
          <a:xfrm>
            <a:off x="6172200" y="2240280"/>
            <a:ext cx="310896" cy="457200"/>
          </a:xfrm>
          <a:prstGeom prst="chevron">
            <a:avLst/>
          </a:prstGeom>
          <a:solidFill>
            <a:srgbClr val="6D9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0" y="1536192"/>
            <a:ext cx="2423160" cy="1828800"/>
          </a:xfrm>
          <a:prstGeom prst="roundRect">
            <a:avLst/>
          </a:prstGeom>
          <a:solidFill>
            <a:srgbClr val="FFEFD6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1536192"/>
            <a:ext cx="82296" cy="1828800"/>
          </a:xfrm>
          <a:prstGeom prst="rect">
            <a:avLst/>
          </a:prstGeom>
          <a:solidFill>
            <a:srgbClr val="FF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1719072"/>
            <a:ext cx="2011679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Session workspace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194560"/>
            <a:ext cx="2011679" cy="10424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Role-owned files</a:t>
            </a:r>
            <a:br/>
            <a:r>
              <a:t>Tests + deployment</a:t>
            </a:r>
            <a:br/>
            <a:r>
              <a:t>Session artifact</a:t>
            </a:r>
          </a:p>
        </p:txBody>
      </p:sp>
      <p:sp>
        <p:nvSpPr>
          <p:cNvPr id="21" name="Chevron 20"/>
          <p:cNvSpPr/>
          <p:nvPr/>
        </p:nvSpPr>
        <p:spPr>
          <a:xfrm>
            <a:off x="9116568" y="2240280"/>
            <a:ext cx="310896" cy="457200"/>
          </a:xfrm>
          <a:prstGeom prst="chevron">
            <a:avLst/>
          </a:prstGeom>
          <a:solidFill>
            <a:srgbClr val="FF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28048" y="1536192"/>
            <a:ext cx="1965960" cy="1828800"/>
          </a:xfrm>
          <a:prstGeom prst="roundRect">
            <a:avLst/>
          </a:prstGeom>
          <a:solidFill>
            <a:srgbClr val="E8F5E2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28048" y="1536192"/>
            <a:ext cx="82296" cy="1828800"/>
          </a:xfrm>
          <a:prstGeom prst="rect">
            <a:avLst/>
          </a:prstGeom>
          <a:solidFill>
            <a:srgbClr val="86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56648" y="1719072"/>
            <a:ext cx="155448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6648" y="2194560"/>
            <a:ext cx="1554480" cy="10424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Exportable project</a:t>
            </a:r>
            <a:br/>
            <a:r>
              <a:t>Reusable tool</a:t>
            </a:r>
            <a:br/>
            <a:r>
              <a:t>Verified preview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133087"/>
            <a:ext cx="1737360" cy="384048"/>
          </a:xfrm>
          <a:prstGeom prst="roundRect">
            <a:avLst/>
          </a:prstGeom>
          <a:solidFill>
            <a:srgbClr val="F1E8F6"/>
          </a:solidFill>
          <a:ln w="10160"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1B21"/>
                </a:solidFill>
                <a:latin typeface="Aptos"/>
              </a:rPr>
              <a:t>OpenAI Responses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0" y="4133087"/>
            <a:ext cx="1097280" cy="384048"/>
          </a:xfrm>
          <a:prstGeom prst="roundRect">
            <a:avLst/>
          </a:prstGeom>
          <a:solidFill>
            <a:srgbClr val="E5F0F6"/>
          </a:solidFill>
          <a:ln w="10160"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1B21"/>
                </a:solidFill>
                <a:latin typeface="Aptos"/>
              </a:rPr>
              <a:t>SQLite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133087"/>
            <a:ext cx="1143000" cy="384048"/>
          </a:xfrm>
          <a:prstGeom prst="roundRect">
            <a:avLst/>
          </a:prstGeom>
          <a:solidFill>
            <a:srgbClr val="E1F5F2"/>
          </a:solidFill>
          <a:ln w="10160"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1B21"/>
                </a:solidFill>
                <a:latin typeface="Aptos"/>
              </a:rPr>
              <a:t>File wiki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15000" y="4133087"/>
            <a:ext cx="1508760" cy="384048"/>
          </a:xfrm>
          <a:prstGeom prst="roundRect">
            <a:avLst/>
          </a:prstGeom>
          <a:solidFill>
            <a:srgbClr val="FFEFD6"/>
          </a:solidFill>
          <a:ln w="10160"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1B21"/>
                </a:solidFill>
                <a:latin typeface="Aptos"/>
              </a:rPr>
              <a:t>OTel Collector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4133087"/>
            <a:ext cx="1005840" cy="384048"/>
          </a:xfrm>
          <a:prstGeom prst="roundRect">
            <a:avLst/>
          </a:prstGeom>
          <a:solidFill>
            <a:srgbClr val="F1E8F6"/>
          </a:solidFill>
          <a:ln w="10160"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1B21"/>
                </a:solidFill>
                <a:latin typeface="Aptos"/>
              </a:rPr>
              <a:t>Jaeger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4133087"/>
            <a:ext cx="1325880" cy="384048"/>
          </a:xfrm>
          <a:prstGeom prst="roundRect">
            <a:avLst/>
          </a:prstGeom>
          <a:solidFill>
            <a:srgbClr val="E8F5E2"/>
          </a:solidFill>
          <a:ln w="10160"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1B21"/>
                </a:solidFill>
                <a:latin typeface="Aptos"/>
              </a:rPr>
              <a:t>Prometheus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78440" y="4133087"/>
            <a:ext cx="960120" cy="384048"/>
          </a:xfrm>
          <a:prstGeom prst="roundRect">
            <a:avLst/>
          </a:prstGeom>
          <a:solidFill>
            <a:srgbClr val="E5F0F6"/>
          </a:solidFill>
          <a:ln w="10160">
            <a:solidFill>
              <a:srgbClr val="14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1B21"/>
                </a:solidFill>
                <a:latin typeface="Aptos"/>
              </a:rPr>
              <a:t>Grafana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074920"/>
            <a:ext cx="10241280" cy="6583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141B21"/>
                </a:solidFill>
                <a:latin typeface="Aptos"/>
              </a:rPr>
              <a:t>Local Docker Compose keeps the delivery loop inspectable: code, traces, metrics, events, and artifacts share one operational boundary.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38B6B8"/>
                </a:solidFill>
                <a:latin typeface="Aptos"/>
              </a:rPr>
              <a:t>PRODUCT + ENGINEERING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66928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41B21"/>
                </a:solidFill>
                <a:latin typeface="Aptos"/>
              </a:rPr>
              <a:t>What we should measure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10881360" cy="18288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53606B"/>
                </a:solidFill>
                <a:latin typeface="Aptos"/>
              </a:rPr>
              <a:t>SDLC / Brainstorm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3606B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514600" cy="1965960"/>
          </a:xfrm>
          <a:prstGeom prst="roundRect">
            <a:avLst/>
          </a:prstGeom>
          <a:solidFill>
            <a:srgbClr val="E1F5F2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82296" cy="1965960"/>
          </a:xfrm>
          <a:prstGeom prst="rect">
            <a:avLst/>
          </a:prstGeom>
          <a:solidFill>
            <a:srgbClr val="38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21031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141B21"/>
                </a:solidFill>
                <a:latin typeface="Aptos"/>
              </a:rPr>
              <a:t>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2103120" cy="11795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Lead time per stage</a:t>
            </a:r>
            <a:br/>
            <a:r>
              <a:t>Queue and agent duration</a:t>
            </a:r>
            <a:br/>
            <a:r>
              <a:t>Parallelism efficiency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600200"/>
            <a:ext cx="2514600" cy="1965960"/>
          </a:xfrm>
          <a:prstGeom prst="roundRect">
            <a:avLst/>
          </a:prstGeom>
          <a:solidFill>
            <a:srgbClr val="FFEFD6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1600200"/>
            <a:ext cx="82296" cy="1965960"/>
          </a:xfrm>
          <a:prstGeom prst="rect">
            <a:avLst/>
          </a:prstGeom>
          <a:solidFill>
            <a:srgbClr val="FF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783080"/>
            <a:ext cx="21031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141B21"/>
                </a:solidFill>
                <a:latin typeface="Aptos"/>
              </a:rPr>
              <a:t>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258568"/>
            <a:ext cx="2103120" cy="11795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First-pass acceptance</a:t>
            </a:r>
            <a:br/>
            <a:r>
              <a:t>Gate failure reasons</a:t>
            </a:r>
            <a:br/>
            <a:r>
              <a:t>Escaped defects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600200"/>
            <a:ext cx="2514600" cy="1965960"/>
          </a:xfrm>
          <a:prstGeom prst="roundRect">
            <a:avLst/>
          </a:prstGeom>
          <a:solidFill>
            <a:srgbClr val="F1E8F6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600200"/>
            <a:ext cx="82296" cy="1965960"/>
          </a:xfrm>
          <a:prstGeom prst="rect">
            <a:avLst/>
          </a:prstGeom>
          <a:solidFill>
            <a:srgbClr val="A67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783080"/>
            <a:ext cx="21031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141B21"/>
                </a:solidFill>
                <a:latin typeface="Aptos"/>
              </a:rPr>
              <a:t>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258568"/>
            <a:ext cx="2103120" cy="11795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Runtime evidence coverage</a:t>
            </a:r>
            <a:br/>
            <a:r>
              <a:t>Critical findings</a:t>
            </a:r>
            <a:br/>
            <a:r>
              <a:t>Human override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600200"/>
            <a:ext cx="2514600" cy="1965960"/>
          </a:xfrm>
          <a:prstGeom prst="roundRect">
            <a:avLst/>
          </a:prstGeom>
          <a:solidFill>
            <a:srgbClr val="E8F5E2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600200"/>
            <a:ext cx="82296" cy="1965960"/>
          </a:xfrm>
          <a:prstGeom prst="rect">
            <a:avLst/>
          </a:prstGeom>
          <a:solidFill>
            <a:srgbClr val="86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783080"/>
            <a:ext cx="21031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141B21"/>
                </a:solidFill>
                <a:latin typeface="Aptos"/>
              </a:rPr>
              <a:t>Economics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258568"/>
            <a:ext cx="2103120" cy="11795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Tokens per accepted delivery</a:t>
            </a:r>
            <a:br/>
            <a:r>
              <a:t>Tool reuse savings</a:t>
            </a:r>
            <a:br/>
            <a:r>
              <a:t>Cost by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251960"/>
            <a:ext cx="210312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38B6B8"/>
                </a:solidFill>
                <a:latin typeface="Aptos"/>
              </a:rPr>
              <a:t>North-star candidate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81728"/>
            <a:ext cx="1051560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500" b="1">
                <a:solidFill>
                  <a:srgbClr val="141B21"/>
                </a:solidFill>
                <a:latin typeface="Aptos"/>
              </a:rPr>
              <a:t>Verified, locally runnable deliveries per unit of time and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5532120"/>
            <a:ext cx="98755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53606B"/>
                </a:solidFill>
                <a:latin typeface="Aptos"/>
              </a:rPr>
              <a:t>Guardrail: the metric counts only deliveries that passed runtime QA, security, final review, packaging, and preview.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38B6B8"/>
                </a:solidFill>
                <a:latin typeface="Aptos"/>
              </a:rPr>
              <a:t>WORKSHOP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66928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41B21"/>
                </a:solidFill>
                <a:latin typeface="Aptos"/>
              </a:rPr>
              <a:t>Brainstorm: decisions worth making tomorrow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10881360" cy="18288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53606B"/>
                </a:solidFill>
                <a:latin typeface="Aptos"/>
              </a:rPr>
              <a:t>SDLC / Brainstorm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3606B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81328"/>
            <a:ext cx="5230368" cy="1188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81328"/>
            <a:ext cx="82296" cy="1188720"/>
          </a:xfrm>
          <a:prstGeom prst="rect">
            <a:avLst/>
          </a:prstGeom>
          <a:solidFill>
            <a:srgbClr val="38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664208"/>
            <a:ext cx="4818888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41B21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139696"/>
            <a:ext cx="4818888" cy="40233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Which workflows deserve hard deterministic gates versus human review?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481328"/>
            <a:ext cx="5230368" cy="1188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6792" y="1481328"/>
            <a:ext cx="82296" cy="1188720"/>
          </a:xfrm>
          <a:prstGeom prst="rect">
            <a:avLst/>
          </a:prstGeom>
          <a:solidFill>
            <a:srgbClr val="FF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664208"/>
            <a:ext cx="4818888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41B21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139696"/>
            <a:ext cx="4818888" cy="40233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What is the minimum runtime evidence for frontend, API, data, and infrastructure work?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990088"/>
            <a:ext cx="5230368" cy="1188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990088"/>
            <a:ext cx="82296" cy="1188720"/>
          </a:xfrm>
          <a:prstGeom prst="rect">
            <a:avLst/>
          </a:prstGeom>
          <a:solidFill>
            <a:srgbClr val="A67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172968"/>
            <a:ext cx="4818888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41B21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3648456"/>
            <a:ext cx="4818888" cy="40233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Should agents repair a blocked delivery automatically, or open a bounded remediation loop?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792" y="2990088"/>
            <a:ext cx="5230368" cy="1188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36792" y="2990088"/>
            <a:ext cx="82296" cy="1188720"/>
          </a:xfrm>
          <a:prstGeom prst="rect">
            <a:avLst/>
          </a:prstGeom>
          <a:solidFill>
            <a:srgbClr val="6D9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3172968"/>
            <a:ext cx="4818888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41B21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648456"/>
            <a:ext cx="4818888" cy="40233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How do trusted reusable tools earn, retain, and lose trust over time?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498848"/>
            <a:ext cx="5230368" cy="1188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4498848"/>
            <a:ext cx="82296" cy="1188720"/>
          </a:xfrm>
          <a:prstGeom prst="rect">
            <a:avLst/>
          </a:prstGeom>
          <a:solidFill>
            <a:srgbClr val="F4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4681728"/>
            <a:ext cx="4818888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41B21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5157216"/>
            <a:ext cx="4818888" cy="40233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Where should policy live: prompts, code, signed manifests, or all three?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6792" y="4498848"/>
            <a:ext cx="5230368" cy="1188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36792" y="4498848"/>
            <a:ext cx="82296" cy="1188720"/>
          </a:xfrm>
          <a:prstGeom prst="rect">
            <a:avLst/>
          </a:prstGeom>
          <a:solidFill>
            <a:srgbClr val="86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4681728"/>
            <a:ext cx="4818888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41B21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5157216"/>
            <a:ext cx="4818888" cy="40233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Which telemetry is useful without turning agent work into vanity dashboards?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38B6B8"/>
                </a:solidFill>
                <a:latin typeface="Aptos"/>
              </a:rPr>
              <a:t>ROADMAP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66928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41B21"/>
                </a:solidFill>
                <a:latin typeface="Aptos"/>
              </a:rPr>
              <a:t>A pragmatic 30 / 60 / 90-day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10881360" cy="18288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53606B"/>
                </a:solidFill>
                <a:latin typeface="Aptos"/>
              </a:rPr>
              <a:t>SDLC / Brainstorm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3606B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00200"/>
            <a:ext cx="3383280" cy="3337560"/>
          </a:xfrm>
          <a:prstGeom prst="roundRect">
            <a:avLst/>
          </a:prstGeom>
          <a:solidFill>
            <a:srgbClr val="E1F5F2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600200"/>
            <a:ext cx="82296" cy="3337560"/>
          </a:xfrm>
          <a:prstGeom prst="rect">
            <a:avLst/>
          </a:prstGeom>
          <a:solidFill>
            <a:srgbClr val="38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83080"/>
            <a:ext cx="29718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141B21"/>
                </a:solidFill>
                <a:latin typeface="Aptos"/>
              </a:rPr>
              <a:t>30 days · Make it reliable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58568"/>
            <a:ext cx="2971800" cy="25511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53606B"/>
                </a:solidFill>
                <a:latin typeface="Aptos"/>
              </a:rPr>
              <a:t>Structured verdict schema</a:t>
            </a:r>
            <a:br/>
            <a:r>
              <a:t>Dependency + browser test harness</a:t>
            </a:r>
            <a:br/>
            <a:r>
              <a:t>Failure taxonomy</a:t>
            </a:r>
            <a:br/>
            <a:r>
              <a:t>Golden workflow fixtures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00200"/>
            <a:ext cx="3383280" cy="3337560"/>
          </a:xfrm>
          <a:prstGeom prst="roundRect">
            <a:avLst/>
          </a:prstGeom>
          <a:solidFill>
            <a:srgbClr val="F1E8F6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600200"/>
            <a:ext cx="82296" cy="3337560"/>
          </a:xfrm>
          <a:prstGeom prst="rect">
            <a:avLst/>
          </a:prstGeom>
          <a:solidFill>
            <a:srgbClr val="A67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783080"/>
            <a:ext cx="29718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141B21"/>
                </a:solidFill>
                <a:latin typeface="Aptos"/>
              </a:rPr>
              <a:t>60 days · Make it adaptive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258568"/>
            <a:ext cx="2971800" cy="25511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53606B"/>
                </a:solidFill>
                <a:latin typeface="Aptos"/>
              </a:rPr>
              <a:t>Bounded remediation loops</a:t>
            </a:r>
            <a:br/>
            <a:r>
              <a:t>Policy profiles by project type</a:t>
            </a:r>
            <a:br/>
            <a:r>
              <a:t>Artifact provenance + SBOM</a:t>
            </a:r>
            <a:br/>
            <a:r>
              <a:t>Reusable tool lifecycle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600200"/>
            <a:ext cx="3383280" cy="3337560"/>
          </a:xfrm>
          <a:prstGeom prst="roundRect">
            <a:avLst/>
          </a:prstGeom>
          <a:solidFill>
            <a:srgbClr val="FFEFD6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600200"/>
            <a:ext cx="82296" cy="3337560"/>
          </a:xfrm>
          <a:prstGeom prst="rect">
            <a:avLst/>
          </a:prstGeom>
          <a:solidFill>
            <a:srgbClr val="FF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1783080"/>
            <a:ext cx="29718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141B21"/>
                </a:solidFill>
                <a:latin typeface="Aptos"/>
              </a:rPr>
              <a:t>90 days · Make it 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258568"/>
            <a:ext cx="2971800" cy="25511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53606B"/>
                </a:solidFill>
                <a:latin typeface="Aptos"/>
              </a:rPr>
              <a:t>Outcome-linked scoring</a:t>
            </a:r>
            <a:br/>
            <a:r>
              <a:t>Cross-run pattern analysis</a:t>
            </a:r>
            <a:br/>
            <a:r>
              <a:t>Human feedback calibration</a:t>
            </a:r>
            <a:br/>
            <a:r>
              <a:t>Portfolio-level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04688"/>
            <a:ext cx="996696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41B21"/>
                </a:solidFill>
                <a:latin typeface="Aptos"/>
              </a:rPr>
              <a:t>Constraint throughout: local-first, auditable, reversible, and fail-closed.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38B6B8"/>
                </a:solidFill>
                <a:latin typeface="Aptos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66928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41B21"/>
                </a:solidFill>
                <a:latin typeface="Aptos"/>
              </a:rPr>
              <a:t>Tomorrow’s desired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10881360" cy="18288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53606B"/>
                </a:solidFill>
                <a:latin typeface="Aptos"/>
              </a:rPr>
              <a:t>SDLC / Brainstorm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3606B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98480" cy="7132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3000" b="1">
                <a:solidFill>
                  <a:srgbClr val="141B21"/>
                </a:solidFill>
                <a:latin typeface="Aptos"/>
              </a:rPr>
              <a:t>Agree on the control plane we want — not just the agents we can 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788920"/>
            <a:ext cx="3063240" cy="1325880"/>
          </a:xfrm>
          <a:prstGeom prst="roundRect">
            <a:avLst/>
          </a:prstGeom>
          <a:solidFill>
            <a:srgbClr val="E1F5F2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2788920"/>
            <a:ext cx="82296" cy="1325880"/>
          </a:xfrm>
          <a:prstGeom prst="rect">
            <a:avLst/>
          </a:prstGeom>
          <a:solidFill>
            <a:srgbClr val="38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971800"/>
            <a:ext cx="26517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1 ·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47287"/>
            <a:ext cx="2651760" cy="5394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Pick one or two delivery archetypes for the next iteration.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2788920"/>
            <a:ext cx="3063240" cy="1325880"/>
          </a:xfrm>
          <a:prstGeom prst="roundRect">
            <a:avLst/>
          </a:prstGeom>
          <a:solidFill>
            <a:srgbClr val="F1E8F6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2788920"/>
            <a:ext cx="82296" cy="1325880"/>
          </a:xfrm>
          <a:prstGeom prst="rect">
            <a:avLst/>
          </a:prstGeom>
          <a:solidFill>
            <a:srgbClr val="A67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2971800"/>
            <a:ext cx="26517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2 ·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3447287"/>
            <a:ext cx="2651760" cy="5394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Define the runtime proof that makes each archetype trustworthy.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788920"/>
            <a:ext cx="3063240" cy="1325880"/>
          </a:xfrm>
          <a:prstGeom prst="roundRect">
            <a:avLst/>
          </a:prstGeom>
          <a:solidFill>
            <a:srgbClr val="FFEFD6"/>
          </a:solidFill>
          <a:ln w="1397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788920"/>
            <a:ext cx="82296" cy="1325880"/>
          </a:xfrm>
          <a:prstGeom prst="rect">
            <a:avLst/>
          </a:prstGeom>
          <a:solidFill>
            <a:srgbClr val="FF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971800"/>
            <a:ext cx="26517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1B21"/>
                </a:solidFill>
                <a:latin typeface="Aptos"/>
              </a:rPr>
              <a:t>3 · Learning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447287"/>
            <a:ext cx="2651760" cy="5394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3606B"/>
                </a:solidFill>
                <a:latin typeface="Aptos"/>
              </a:rPr>
              <a:t>Decide how failures become policy, tests, and reusable assets.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892040"/>
            <a:ext cx="265176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3400" b="1">
                <a:solidFill>
                  <a:srgbClr val="141B21"/>
                </a:solidFill>
                <a:latin typeface="Aptos"/>
              </a:rPr>
              <a:t>SDLC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5559552"/>
            <a:ext cx="62636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53606B"/>
                </a:solidFill>
                <a:latin typeface="Aptos"/>
              </a:rPr>
              <a:t>Software delivery with evidence at every handoff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